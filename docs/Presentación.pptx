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2" r:id="rId9"/>
    <p:sldId id="273" r:id="rId10"/>
    <p:sldId id="269" r:id="rId11"/>
    <p:sldId id="271" r:id="rId12"/>
    <p:sldId id="272" r:id="rId13"/>
    <p:sldId id="270" r:id="rId14"/>
    <p:sldId id="265" r:id="rId15"/>
    <p:sldId id="263" r:id="rId16"/>
    <p:sldId id="274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60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912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4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0779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392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410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63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124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046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3756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357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C25E71F-FBE6-4168-9FDB-09D6D6954A01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1005FF4-801E-4C6F-81B3-03A54422B136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472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C328339-6BCE-488B-8276-A61D80F16F29}"/>
              </a:ext>
            </a:extLst>
          </p:cNvPr>
          <p:cNvSpPr txBox="1"/>
          <p:nvPr/>
        </p:nvSpPr>
        <p:spPr>
          <a:xfrm>
            <a:off x="746522" y="1605648"/>
            <a:ext cx="102262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6000" dirty="0">
                <a:latin typeface="Bahnschrift SemiCondensed" panose="020B0502040204020203" pitchFamily="34" charset="0"/>
              </a:rPr>
              <a:t>Análisis Inteligente de Comentarios - Consulta Publica Banda 900 MHz</a:t>
            </a:r>
          </a:p>
        </p:txBody>
      </p:sp>
    </p:spTree>
    <p:extLst>
      <p:ext uri="{BB962C8B-B14F-4D97-AF65-F5344CB8AC3E}">
        <p14:creationId xmlns:p14="http://schemas.microsoft.com/office/powerpoint/2010/main" val="231331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632222" y="2828835"/>
            <a:ext cx="102262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7200" dirty="0">
                <a:latin typeface="Bahnschrift SemiCondensed" panose="020B0502040204020203" pitchFamily="34" charset="0"/>
              </a:rPr>
              <a:t>Metodología</a:t>
            </a:r>
            <a:endParaRPr lang="es-CO" sz="6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0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699168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4000" dirty="0">
                <a:latin typeface="Bahnschrift SemiCondensed" panose="020B0502040204020203" pitchFamily="34" charset="0"/>
              </a:rPr>
              <a:t>Recursos</a:t>
            </a:r>
            <a:endParaRPr lang="es-CO" sz="6000" dirty="0">
              <a:latin typeface="Bahnschrift SemiCondensed" panose="020B0502040204020203" pitchFamily="34" charset="0"/>
            </a:endParaRPr>
          </a:p>
        </p:txBody>
      </p:sp>
      <p:pic>
        <p:nvPicPr>
          <p:cNvPr id="1026" name="Picture 2" descr="Pdf - Iconos gratis de archivos y carpetas">
            <a:extLst>
              <a:ext uri="{FF2B5EF4-FFF2-40B4-BE49-F238E27FC236}">
                <a16:creationId xmlns:a16="http://schemas.microsoft.com/office/drawing/2014/main" id="{33AB857E-F35B-4AF0-A251-760C68ECC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516" y="2132186"/>
            <a:ext cx="1543619" cy="154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wnload Microsoft Excel Logo in SVG Vector or PNG File Format - Logo.wine">
            <a:extLst>
              <a:ext uri="{FF2B5EF4-FFF2-40B4-BE49-F238E27FC236}">
                <a16:creationId xmlns:a16="http://schemas.microsoft.com/office/drawing/2014/main" id="{671D0A31-DF02-44EE-8B40-F6D12D43E2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99" t="14706" r="24481" b="12853"/>
          <a:stretch/>
        </p:blipFill>
        <p:spPr bwMode="auto">
          <a:xfrm>
            <a:off x="1922203" y="4271962"/>
            <a:ext cx="1621160" cy="154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7FAA1E3-B4A3-48C7-B169-EDEDB88E1549}"/>
              </a:ext>
            </a:extLst>
          </p:cNvPr>
          <p:cNvSpPr txBox="1"/>
          <p:nvPr/>
        </p:nvSpPr>
        <p:spPr>
          <a:xfrm>
            <a:off x="4041550" y="2481526"/>
            <a:ext cx="70026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latin typeface="Bahnschrift SemiCondensed" panose="020B0502040204020203" pitchFamily="34" charset="0"/>
              </a:rPr>
              <a:t>32 </a:t>
            </a:r>
            <a:r>
              <a:rPr lang="es-CO" sz="2800" dirty="0" err="1">
                <a:latin typeface="Bahnschrift SemiCondensed" panose="020B0502040204020203" pitchFamily="34" charset="0"/>
              </a:rPr>
              <a:t>PDFs</a:t>
            </a:r>
            <a:r>
              <a:rPr lang="es-CO" sz="2800" dirty="0">
                <a:latin typeface="Bahnschrift SemiCondensed" panose="020B0502040204020203" pitchFamily="34" charset="0"/>
              </a:rPr>
              <a:t>: 	27 de comentarios + 5 de ampliación de plazos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49A527-C01B-44CA-B778-072E4D3165C3}"/>
              </a:ext>
            </a:extLst>
          </p:cNvPr>
          <p:cNvSpPr txBox="1"/>
          <p:nvPr/>
        </p:nvSpPr>
        <p:spPr>
          <a:xfrm>
            <a:off x="4041549" y="4605372"/>
            <a:ext cx="74598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latin typeface="Bahnschrift SemiCondensed" panose="020B0502040204020203" pitchFamily="34" charset="0"/>
              </a:rPr>
              <a:t>1 Excel con información sintetizada: 23 remitentes y 221 comentarios</a:t>
            </a:r>
          </a:p>
        </p:txBody>
      </p:sp>
    </p:spTree>
    <p:extLst>
      <p:ext uri="{BB962C8B-B14F-4D97-AF65-F5344CB8AC3E}">
        <p14:creationId xmlns:p14="http://schemas.microsoft.com/office/powerpoint/2010/main" val="3475813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699168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M</a:t>
            </a:r>
            <a:r>
              <a:rPr lang="es-CO" sz="4000" dirty="0" err="1">
                <a:latin typeface="Bahnschrift SemiCondensed" panose="020B0502040204020203" pitchFamily="34" charset="0"/>
              </a:rPr>
              <a:t>etodología</a:t>
            </a:r>
            <a:endParaRPr lang="es-CO" sz="6000" dirty="0">
              <a:latin typeface="Bahnschrift SemiCondensed" panose="020B0502040204020203" pitchFamily="34" charset="0"/>
            </a:endParaRPr>
          </a:p>
        </p:txBody>
      </p:sp>
      <p:pic>
        <p:nvPicPr>
          <p:cNvPr id="1028" name="Picture 4" descr="Download Microsoft Excel Logo in SVG Vector or PNG File Format - Logo.wine">
            <a:extLst>
              <a:ext uri="{FF2B5EF4-FFF2-40B4-BE49-F238E27FC236}">
                <a16:creationId xmlns:a16="http://schemas.microsoft.com/office/drawing/2014/main" id="{671D0A31-DF02-44EE-8B40-F6D12D43E2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99" t="14706" r="24481" b="12853"/>
          <a:stretch/>
        </p:blipFill>
        <p:spPr bwMode="auto">
          <a:xfrm>
            <a:off x="6563918" y="2601019"/>
            <a:ext cx="1621160" cy="154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149A527-C01B-44CA-B778-072E4D3165C3}"/>
              </a:ext>
            </a:extLst>
          </p:cNvPr>
          <p:cNvSpPr txBox="1"/>
          <p:nvPr/>
        </p:nvSpPr>
        <p:spPr>
          <a:xfrm>
            <a:off x="457236" y="1807771"/>
            <a:ext cx="57734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Se usó Modelos de IA (LLM) para lectura y entendimientos generales de los comentarios. Ayudando a recopilar palabras claves para el análisis. </a:t>
            </a:r>
          </a:p>
          <a:p>
            <a:pPr algn="just"/>
            <a:endParaRPr lang="es-ES" dirty="0">
              <a:latin typeface="Artifakt Element Light" panose="020B0303050000020004" pitchFamily="34" charset="0"/>
              <a:ea typeface="Artifakt Element Light" panose="020B0303050000020004" pitchFamily="34" charset="0"/>
            </a:endParaRPr>
          </a:p>
          <a:p>
            <a:pPr algn="just"/>
            <a:r>
              <a:rPr lang="es-ES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Se clasificaron los comentarios en 6 temas de interés o ejes principales de discusión. Se identifico este número de temas con la ayuda de un análisis previo del modelo de IA.</a:t>
            </a:r>
          </a:p>
          <a:p>
            <a:pPr algn="just"/>
            <a:endParaRPr lang="es-ES" dirty="0">
              <a:latin typeface="Artifakt Element Light" panose="020B0303050000020004" pitchFamily="34" charset="0"/>
              <a:ea typeface="Artifakt Element Light" panose="020B0303050000020004" pitchFamily="34" charset="0"/>
            </a:endParaRPr>
          </a:p>
          <a:p>
            <a:pPr algn="just"/>
            <a:r>
              <a:rPr lang="es-ES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A su vez, se agruparon los remitentes en 7 sectores estratégicos clasificados manualmente (Comunidades, Gremios, </a:t>
            </a:r>
            <a:r>
              <a:rPr lang="es-ES" dirty="0" err="1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ISPs</a:t>
            </a:r>
            <a:r>
              <a:rPr lang="es-ES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, Sector Público, Academia, etc.).</a:t>
            </a:r>
          </a:p>
        </p:txBody>
      </p:sp>
      <p:pic>
        <p:nvPicPr>
          <p:cNvPr id="1026" name="Picture 2" descr="Pdf - Iconos gratis de archivos y carpetas">
            <a:extLst>
              <a:ext uri="{FF2B5EF4-FFF2-40B4-BE49-F238E27FC236}">
                <a16:creationId xmlns:a16="http://schemas.microsoft.com/office/drawing/2014/main" id="{33AB857E-F35B-4AF0-A251-760C68ECC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269" y="2601019"/>
            <a:ext cx="1543619" cy="154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sistente de ai - Iconos gratis de tecnología">
            <a:extLst>
              <a:ext uri="{FF2B5EF4-FFF2-40B4-BE49-F238E27FC236}">
                <a16:creationId xmlns:a16="http://schemas.microsoft.com/office/drawing/2014/main" id="{C6576C33-B22C-4FEF-A10F-752B85E1E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3409" y="1053111"/>
            <a:ext cx="2252037" cy="225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ython logo - Icono gratis PNG, SVG">
            <a:extLst>
              <a:ext uri="{FF2B5EF4-FFF2-40B4-BE49-F238E27FC236}">
                <a16:creationId xmlns:a16="http://schemas.microsoft.com/office/drawing/2014/main" id="{2552DAA5-C26C-4515-89AA-7A8407594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456" y="3847501"/>
            <a:ext cx="1957388" cy="195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Flecha siguiente - Iconos gratis de flechas">
            <a:extLst>
              <a:ext uri="{FF2B5EF4-FFF2-40B4-BE49-F238E27FC236}">
                <a16:creationId xmlns:a16="http://schemas.microsoft.com/office/drawing/2014/main" id="{A03E73E5-F03A-4F4A-B72E-F2160FAE2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20835">
            <a:off x="9024540" y="2371102"/>
            <a:ext cx="961292" cy="96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Flecha siguiente - Iconos gratis de flechas">
            <a:extLst>
              <a:ext uri="{FF2B5EF4-FFF2-40B4-BE49-F238E27FC236}">
                <a16:creationId xmlns:a16="http://schemas.microsoft.com/office/drawing/2014/main" id="{E0A5C97A-66F7-41CE-8398-8ECDB2335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74110">
            <a:off x="9072355" y="3565388"/>
            <a:ext cx="961292" cy="96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72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632222" y="2828835"/>
            <a:ext cx="102262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7200" dirty="0">
                <a:latin typeface="Bahnschrift SemiCondensed" panose="020B0502040204020203" pitchFamily="34" charset="0"/>
              </a:rPr>
              <a:t>R</a:t>
            </a:r>
            <a:r>
              <a:rPr lang="es-CO" sz="7200" dirty="0" err="1">
                <a:latin typeface="Bahnschrift SemiCondensed" panose="020B0502040204020203" pitchFamily="34" charset="0"/>
              </a:rPr>
              <a:t>esultados</a:t>
            </a:r>
            <a:endParaRPr lang="es-CO" sz="6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4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Temas de Interés</a:t>
            </a:r>
            <a:endParaRPr lang="es-CO" sz="6000" dirty="0">
              <a:latin typeface="Bahnschrift SemiCondensed" panose="020B0502040204020203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DCE0DF6-E764-4882-9143-406AB206F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2" y="1409700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92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5225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Tema 1 - Costos y Pagos 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9BA85C-2491-41B9-B7D9-41280C2839AB}"/>
              </a:ext>
            </a:extLst>
          </p:cNvPr>
          <p:cNvSpPr txBox="1"/>
          <p:nvPr/>
        </p:nvSpPr>
        <p:spPr>
          <a:xfrm>
            <a:off x="475059" y="1905506"/>
            <a:ext cx="1022627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ANDESCO: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Solicita un modelo de valoración económica transparente para evitar asimetrías frente a quienes pagan espectro.</a:t>
            </a:r>
          </a:p>
          <a:p>
            <a:pPr algn="just"/>
            <a:endParaRPr lang="es-ES" sz="24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ASOTIC: </a:t>
            </a:r>
            <a:r>
              <a:rPr lang="es-ES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Considera que el trato diferencial (gratis para comunidades, cobro para ISP Internet </a:t>
            </a:r>
            <a:r>
              <a:rPr lang="es-ES" sz="2400" dirty="0" err="1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Service</a:t>
            </a:r>
            <a:r>
              <a:rPr lang="es-ES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 </a:t>
            </a:r>
            <a:r>
              <a:rPr lang="es-ES" sz="2400" dirty="0" err="1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Provider</a:t>
            </a:r>
            <a:r>
              <a:rPr lang="es-ES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) distorsiona la competencia local.</a:t>
            </a:r>
          </a:p>
          <a:p>
            <a:pPr algn="just"/>
            <a:endParaRPr lang="es-ES" sz="24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FEDETIC: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Solicita exoneración del pago de contraprestación durante los primeros 5 años y garantizar subsidios del FUTIC.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2E2599-CE11-4707-9C01-6CDABCAC7C8C}"/>
              </a:ext>
            </a:extLst>
          </p:cNvPr>
          <p:cNvSpPr txBox="1"/>
          <p:nvPr/>
        </p:nvSpPr>
        <p:spPr>
          <a:xfrm>
            <a:off x="8229600" y="735449"/>
            <a:ext cx="2471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400" dirty="0">
                <a:latin typeface="Bahnschrift SemiCondensed" panose="020B0502040204020203" pitchFamily="34" charset="0"/>
              </a:rPr>
              <a:t>(71 comentarios)</a:t>
            </a:r>
          </a:p>
        </p:txBody>
      </p:sp>
    </p:spTree>
    <p:extLst>
      <p:ext uri="{BB962C8B-B14F-4D97-AF65-F5344CB8AC3E}">
        <p14:creationId xmlns:p14="http://schemas.microsoft.com/office/powerpoint/2010/main" val="418109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80117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Tema 2 - Condiciones Técnicas y Eficiencia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9BA85C-2491-41B9-B7D9-41280C2839AB}"/>
              </a:ext>
            </a:extLst>
          </p:cNvPr>
          <p:cNvSpPr txBox="1"/>
          <p:nvPr/>
        </p:nvSpPr>
        <p:spPr>
          <a:xfrm>
            <a:off x="475059" y="2462719"/>
            <a:ext cx="10226278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COMCEL: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Señala que las bandas de guarda de 3 MHz pueden ser técnicamente insuficientes para proteger la red actual en 850 MHz.</a:t>
            </a:r>
          </a:p>
          <a:p>
            <a:pPr algn="just"/>
            <a:endParaRPr lang="es-ES" sz="24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Asomovil: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Advierte importantes riesgos de interferencia y que fragmentar la banda rompe la armonización internacional.</a:t>
            </a:r>
          </a:p>
          <a:p>
            <a:pPr algn="just"/>
            <a:endParaRPr lang="es-ES" sz="24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Universidad ICESI: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Señala que el radio de 4 km y la altura de antena de 10 metros son insuficientes para una cobertura real en zonas montañosas.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48BD5DC-175B-493D-B6CD-D87761CDAD52}"/>
              </a:ext>
            </a:extLst>
          </p:cNvPr>
          <p:cNvSpPr txBox="1"/>
          <p:nvPr/>
        </p:nvSpPr>
        <p:spPr>
          <a:xfrm>
            <a:off x="8229600" y="735449"/>
            <a:ext cx="2471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400" dirty="0">
                <a:latin typeface="Bahnschrift SemiCondensed" panose="020B0502040204020203" pitchFamily="34" charset="0"/>
              </a:rPr>
              <a:t>(64 comentarios)</a:t>
            </a:r>
          </a:p>
        </p:txBody>
      </p:sp>
    </p:spTree>
    <p:extLst>
      <p:ext uri="{BB962C8B-B14F-4D97-AF65-F5344CB8AC3E}">
        <p14:creationId xmlns:p14="http://schemas.microsoft.com/office/powerpoint/2010/main" val="3799957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04217" y="532536"/>
            <a:ext cx="11383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Subgrupos de comentarios de temas técnicos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9BA85C-2491-41B9-B7D9-41280C2839AB}"/>
              </a:ext>
            </a:extLst>
          </p:cNvPr>
          <p:cNvSpPr txBox="1"/>
          <p:nvPr/>
        </p:nvSpPr>
        <p:spPr>
          <a:xfrm>
            <a:off x="404217" y="1754982"/>
            <a:ext cx="1138356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Tras aislar los comentarios que tratan de cobertura y demás temas técnicos tenemos 4 grandes subgrupos:</a:t>
            </a:r>
          </a:p>
          <a:p>
            <a:pPr algn="just"/>
            <a:endParaRPr lang="es-ES" sz="20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000" dirty="0">
                <a:solidFill>
                  <a:srgbClr val="00B050"/>
                </a:solidFill>
                <a:latin typeface="Bahnschrift SemiCondensed" panose="020B0502040204020203" pitchFamily="34" charset="0"/>
                <a:ea typeface="Artifakt Element Light" panose="020B0303050000020004" pitchFamily="34" charset="0"/>
              </a:rPr>
              <a:t>Marco de Asignación y Eficiencia Espectral: </a:t>
            </a:r>
            <a:r>
              <a:rPr lang="es-ES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Atender las alertas sobre la fragmentación de la banda y las peticiones de alinearla con los estándares internacionales IMT (4G/5G).</a:t>
            </a:r>
          </a:p>
          <a:p>
            <a:pPr algn="just"/>
            <a:endParaRPr lang="es-ES" sz="2000" dirty="0">
              <a:latin typeface="Bahnschrift SemiBold" panose="020B0502040204020203" pitchFamily="34" charset="0"/>
              <a:ea typeface="Artifakt Element Light" panose="020B0303050000020004" pitchFamily="34" charset="0"/>
            </a:endParaRPr>
          </a:p>
          <a:p>
            <a:pPr algn="just"/>
            <a:r>
              <a:rPr lang="es-ES" sz="2000" dirty="0">
                <a:solidFill>
                  <a:srgbClr val="00B0F0"/>
                </a:solidFill>
                <a:latin typeface="Bahnschrift SemiCondensed" panose="020B0502040204020203" pitchFamily="34" charset="0"/>
                <a:ea typeface="Artifakt Element Light" panose="020B0303050000020004" pitchFamily="34" charset="0"/>
              </a:rPr>
              <a:t>Coexistencia y Mitigación de Interferencias: </a:t>
            </a:r>
            <a:r>
              <a:rPr lang="es-ES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Responder de manera unificada a la exigencia de mayores bandas de guarda para proteger las redes actuales que operan en 850 MHz. </a:t>
            </a:r>
          </a:p>
          <a:p>
            <a:pPr algn="just"/>
            <a:endParaRPr lang="es-ES" sz="2000" dirty="0">
              <a:latin typeface="Artifakt Element Light" panose="020B0303050000020004" pitchFamily="34" charset="0"/>
              <a:ea typeface="Artifakt Element Light" panose="020B0303050000020004" pitchFamily="34" charset="0"/>
            </a:endParaRPr>
          </a:p>
          <a:p>
            <a:pPr algn="just"/>
            <a:r>
              <a:rPr lang="es-ES" sz="2000" dirty="0">
                <a:solidFill>
                  <a:srgbClr val="FFFF00"/>
                </a:solidFill>
                <a:latin typeface="Bahnschrift SemiCondensed" panose="020B0502040204020203" pitchFamily="34" charset="0"/>
                <a:ea typeface="Artifakt Element Light" panose="020B0303050000020004" pitchFamily="34" charset="0"/>
              </a:rPr>
              <a:t>Especificaciones de Cobertura y Capacidad</a:t>
            </a:r>
            <a:r>
              <a:rPr lang="es-ES" dirty="0">
                <a:solidFill>
                  <a:srgbClr val="FFFF00"/>
                </a:solidFill>
                <a:latin typeface="Bahnschrift SemiCondensed" panose="020B0502040204020203" pitchFamily="34" charset="0"/>
                <a:ea typeface="Artifakt Element Light" panose="020B0303050000020004" pitchFamily="34" charset="0"/>
              </a:rPr>
              <a:t>: </a:t>
            </a:r>
            <a:r>
              <a:rPr lang="es-ES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Justificar o flexibilizar los limites propuestos de bloques de 2x5 MHz, altura de antenas restringida a 10 metros y radios de celda de solo 4 km.</a:t>
            </a:r>
          </a:p>
          <a:p>
            <a:pPr algn="just"/>
            <a:endParaRPr lang="es-ES" sz="2000" dirty="0">
              <a:latin typeface="Bahnschrift SemiCondensed" panose="020B0502040204020203" pitchFamily="34" charset="0"/>
              <a:ea typeface="Artifakt Element Light" panose="020B0303050000020004" pitchFamily="34" charset="0"/>
            </a:endParaRPr>
          </a:p>
          <a:p>
            <a:pPr algn="just"/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Condensed" panose="020B0502040204020203" pitchFamily="34" charset="0"/>
                <a:ea typeface="Artifakt Element Light" panose="020B0303050000020004" pitchFamily="34" charset="0"/>
              </a:rPr>
              <a:t>Requisitos Habilitantes y Sostenibilidad Operacional: </a:t>
            </a:r>
            <a:r>
              <a:rPr lang="es-ES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Aclarar la experiencia técnica mínima que se exigirá para garantizar que las redes desplegadas no se conviertan en infraestructura abandonada.</a:t>
            </a:r>
            <a:endParaRPr lang="es-ES" sz="2000" dirty="0">
              <a:latin typeface="Artifakt Element Light" panose="020B0303050000020004" pitchFamily="34" charset="0"/>
              <a:ea typeface="Artifakt Element Light" panose="020B03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719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Tema 3 - Plazos y Vigencia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9BA85C-2491-41B9-B7D9-41280C2839AB}"/>
              </a:ext>
            </a:extLst>
          </p:cNvPr>
          <p:cNvSpPr txBox="1"/>
          <p:nvPr/>
        </p:nvSpPr>
        <p:spPr>
          <a:xfrm>
            <a:off x="475059" y="2148393"/>
            <a:ext cx="102262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Colombia Móvil (Tigo): </a:t>
            </a:r>
            <a:r>
              <a:rPr lang="es-ES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Advierte que 5 años de permiso no son suficientes para el retorno de inversión en infraestructura rural.</a:t>
            </a:r>
          </a:p>
          <a:p>
            <a:pPr algn="just"/>
            <a:endParaRPr lang="es-ES" sz="24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Rhizomatica: </a:t>
            </a:r>
            <a:r>
              <a:rPr lang="es-ES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Cuestiona la vigencia corta y la no gratuidad de la renovación, afectando la viabilidad de redes indígenas a largo plazo.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DCE3D9-A19B-42F3-87F4-62AE9A7622A3}"/>
              </a:ext>
            </a:extLst>
          </p:cNvPr>
          <p:cNvSpPr txBox="1"/>
          <p:nvPr/>
        </p:nvSpPr>
        <p:spPr>
          <a:xfrm>
            <a:off x="8229600" y="735449"/>
            <a:ext cx="2471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400" dirty="0">
                <a:latin typeface="Bahnschrift SemiCondensed" panose="020B0502040204020203" pitchFamily="34" charset="0"/>
              </a:rPr>
              <a:t>(20 comentarios)</a:t>
            </a:r>
          </a:p>
        </p:txBody>
      </p:sp>
    </p:spTree>
    <p:extLst>
      <p:ext uri="{BB962C8B-B14F-4D97-AF65-F5344CB8AC3E}">
        <p14:creationId xmlns:p14="http://schemas.microsoft.com/office/powerpoint/2010/main" val="377351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4000" dirty="0">
                <a:latin typeface="Bahnschrift SemiCondensed" panose="020B0502040204020203" pitchFamily="34" charset="0"/>
              </a:rPr>
              <a:t>Tema 4 - Requisitos y Procesos</a:t>
            </a:r>
            <a:endParaRPr lang="es-ES" sz="4000" dirty="0">
              <a:latin typeface="Bahnschrift SemiCondensed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9BA85C-2491-41B9-B7D9-41280C2839AB}"/>
              </a:ext>
            </a:extLst>
          </p:cNvPr>
          <p:cNvSpPr txBox="1"/>
          <p:nvPr/>
        </p:nvSpPr>
        <p:spPr>
          <a:xfrm>
            <a:off x="475059" y="1891218"/>
            <a:ext cx="102262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COLNODO: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Pide un cronograma claro con plazos mas razonables para la presentación de solicitudes y sugiere un enfoque progresivo en la exigencia de documentos formales.</a:t>
            </a:r>
          </a:p>
          <a:p>
            <a:pPr algn="just"/>
            <a:endParaRPr lang="es-ES" sz="24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 err="1">
                <a:latin typeface="Bahnschrift SemiCondensed" panose="020B0502040204020203" pitchFamily="34" charset="0"/>
              </a:rPr>
              <a:t>Consejeria</a:t>
            </a:r>
            <a:r>
              <a:rPr lang="es-ES" sz="2400" dirty="0">
                <a:latin typeface="Bahnschrift SemiCondensed" panose="020B0502040204020203" pitchFamily="34" charset="0"/>
              </a:rPr>
              <a:t> Distrital de TIC: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Solicita ampliar el plazo para recibir observaciones y subsanaciones a un mínimo de 20 días, dado el volumen de información requerida.</a:t>
            </a:r>
          </a:p>
          <a:p>
            <a:pPr algn="just"/>
            <a:endParaRPr lang="es-ES" sz="2400" dirty="0">
              <a:latin typeface="Artifakt Element Light" panose="020B0303050000020004" pitchFamily="34" charset="0"/>
              <a:ea typeface="Artifakt Element Light" panose="020B0303050000020004" pitchFamily="34" charset="0"/>
            </a:endParaRPr>
          </a:p>
          <a:p>
            <a:pPr algn="just"/>
            <a:r>
              <a:rPr lang="es-ES" sz="2400" dirty="0" err="1">
                <a:latin typeface="Bahnschrift SemiCondensed" panose="020B0502040204020203" pitchFamily="34" charset="0"/>
              </a:rPr>
              <a:t>Asotic</a:t>
            </a:r>
            <a:r>
              <a:rPr lang="es-ES" sz="2400" dirty="0">
                <a:latin typeface="Bahnschrift SemiCondensed" panose="020B0502040204020203" pitchFamily="34" charset="0"/>
              </a:rPr>
              <a:t>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Sugiere revisar la pertinencia de establecer un solo canal digital unificado para la remisión de información, evitando confusiones administrativas.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B5830FC-1FB1-4BD7-A3CF-AEAA265B4461}"/>
              </a:ext>
            </a:extLst>
          </p:cNvPr>
          <p:cNvSpPr txBox="1"/>
          <p:nvPr/>
        </p:nvSpPr>
        <p:spPr>
          <a:xfrm>
            <a:off x="8229600" y="735449"/>
            <a:ext cx="2471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400" dirty="0">
                <a:latin typeface="Bahnschrift SemiCondensed" panose="020B0502040204020203" pitchFamily="34" charset="0"/>
              </a:rPr>
              <a:t>(13 comentarios)</a:t>
            </a:r>
          </a:p>
        </p:txBody>
      </p:sp>
    </p:spTree>
    <p:extLst>
      <p:ext uri="{BB962C8B-B14F-4D97-AF65-F5344CB8AC3E}">
        <p14:creationId xmlns:p14="http://schemas.microsoft.com/office/powerpoint/2010/main" val="4114627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Tema 5 - Competencia y Regulación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9BA85C-2491-41B9-B7D9-41280C2839AB}"/>
              </a:ext>
            </a:extLst>
          </p:cNvPr>
          <p:cNvSpPr txBox="1"/>
          <p:nvPr/>
        </p:nvSpPr>
        <p:spPr>
          <a:xfrm>
            <a:off x="475059" y="1819780"/>
            <a:ext cx="102262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Asomovil: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Advierte que la combinación de entregar un permiso gratuito y permitir su cesión posterior genera una inequidad evidente y abre la puerta a la especulación con el espectro.</a:t>
            </a:r>
          </a:p>
          <a:p>
            <a:pPr algn="just"/>
            <a:endParaRPr lang="es-ES" sz="24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GSMA: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Enfatiza la importancia de dar mayor claridad sobre el esquema de topes para impedir el acaparamiento de porciones de espectro por parte de un mismo agente económico.</a:t>
            </a:r>
          </a:p>
          <a:p>
            <a:pPr algn="just"/>
            <a:endParaRPr lang="es-ES" sz="24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DNP: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Sugiere incorporar condiciones estrictas y adicionales en materia de cesión de permisos para asegurar que se preserve el objetivo social en las zonas de cobertura originales.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51E11D3-DD0B-426C-B639-B9078C21AD26}"/>
              </a:ext>
            </a:extLst>
          </p:cNvPr>
          <p:cNvSpPr txBox="1"/>
          <p:nvPr/>
        </p:nvSpPr>
        <p:spPr>
          <a:xfrm>
            <a:off x="8229600" y="735449"/>
            <a:ext cx="2471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400" dirty="0">
                <a:latin typeface="Bahnschrift SemiCondensed" panose="020B0502040204020203" pitchFamily="34" charset="0"/>
              </a:rPr>
              <a:t>(12 comentarios)</a:t>
            </a:r>
          </a:p>
        </p:txBody>
      </p:sp>
    </p:spTree>
    <p:extLst>
      <p:ext uri="{BB962C8B-B14F-4D97-AF65-F5344CB8AC3E}">
        <p14:creationId xmlns:p14="http://schemas.microsoft.com/office/powerpoint/2010/main" val="1337418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79831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Tema 6 - Enfoque Diferencial y Redes Privadas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9BA85C-2491-41B9-B7D9-41280C2839AB}"/>
              </a:ext>
            </a:extLst>
          </p:cNvPr>
          <p:cNvSpPr txBox="1"/>
          <p:nvPr/>
        </p:nvSpPr>
        <p:spPr>
          <a:xfrm>
            <a:off x="475059" y="2148393"/>
            <a:ext cx="102262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EPM: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Invita a destinar parte de la banda para el despliegue de redes privadas IMT orientadas a la digitalización de infraestructura critica.</a:t>
            </a:r>
          </a:p>
          <a:p>
            <a:pPr algn="just"/>
            <a:endParaRPr lang="es-ES" sz="24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Colnodo: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Solicita transitar de un enfoque de cobertura deficiente hacia uno de "falta de conectividad significativa".</a:t>
            </a:r>
          </a:p>
          <a:p>
            <a:pPr algn="just"/>
            <a:endParaRPr lang="es-ES" sz="2100" dirty="0">
              <a:latin typeface="Bahnschrift SemiCondensed" panose="020B0502040204020203" pitchFamily="34" charset="0"/>
            </a:endParaRPr>
          </a:p>
          <a:p>
            <a:pPr algn="just"/>
            <a:r>
              <a:rPr lang="es-ES" sz="2400" dirty="0">
                <a:latin typeface="Bahnschrift SemiCondensed" panose="020B0502040204020203" pitchFamily="34" charset="0"/>
              </a:rPr>
              <a:t>Consejería Distrital de TIC: </a:t>
            </a:r>
            <a:r>
              <a:rPr lang="es-ES" sz="21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Pide incluir zonas rurales dentro de distritos urbanos, ya que la clasificación actual oculta desconexión en las capitales.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6CB740-E896-40BB-AE01-6354C7C3B366}"/>
              </a:ext>
            </a:extLst>
          </p:cNvPr>
          <p:cNvSpPr txBox="1"/>
          <p:nvPr/>
        </p:nvSpPr>
        <p:spPr>
          <a:xfrm>
            <a:off x="8229600" y="735449"/>
            <a:ext cx="2471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400" dirty="0">
                <a:latin typeface="Bahnschrift SemiCondensed" panose="020B0502040204020203" pitchFamily="34" charset="0"/>
              </a:rPr>
              <a:t>(4 comentarios)</a:t>
            </a:r>
          </a:p>
        </p:txBody>
      </p:sp>
    </p:spTree>
    <p:extLst>
      <p:ext uri="{BB962C8B-B14F-4D97-AF65-F5344CB8AC3E}">
        <p14:creationId xmlns:p14="http://schemas.microsoft.com/office/powerpoint/2010/main" val="4159693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632222" y="2828835"/>
            <a:ext cx="102262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7200" dirty="0">
                <a:latin typeface="Bahnschrift SemiCondensed" panose="020B0502040204020203" pitchFamily="34" charset="0"/>
              </a:rPr>
              <a:t>Información adicional</a:t>
            </a:r>
            <a:endParaRPr lang="es-CO" sz="6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866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Principales entidades remitentes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C1C6065-8FFE-44D7-A31F-EDDE9C22C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7" y="1309687"/>
            <a:ext cx="9410700" cy="466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72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Participación por sectores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AD07A4C-B85C-4992-A1E4-042D1AA1F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1395413"/>
            <a:ext cx="94297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798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32196" y="444639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Preocupación de cada sector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A1E3B31B-3522-4F31-AC39-523F71AEC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1354729"/>
            <a:ext cx="7686078" cy="487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715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Aceptación de la resolución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10CE4D2-70D5-4398-AFCA-16E7CC90E8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5" b="7503"/>
          <a:stretch/>
        </p:blipFill>
        <p:spPr bwMode="auto">
          <a:xfrm>
            <a:off x="3281293" y="1500188"/>
            <a:ext cx="5629413" cy="464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0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E17946-1031-4B5D-AE02-FFEBEA63400C}"/>
              </a:ext>
            </a:extLst>
          </p:cNvPr>
          <p:cNvSpPr txBox="1"/>
          <p:nvPr/>
        </p:nvSpPr>
        <p:spPr>
          <a:xfrm>
            <a:off x="475059" y="558939"/>
            <a:ext cx="10226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Bahnschrift SemiCondensed" panose="020B0502040204020203" pitchFamily="34" charset="0"/>
              </a:rPr>
              <a:t>De acuerdo a los artículos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FF22173-3BF2-454D-97B0-20B2A942D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1468545"/>
            <a:ext cx="8062914" cy="481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0474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83</TotalTime>
  <Words>771</Words>
  <Application>Microsoft Office PowerPoint</Application>
  <PresentationFormat>Panorámica</PresentationFormat>
  <Paragraphs>69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Artifakt Element Light</vt:lpstr>
      <vt:lpstr>Bahnschrift SemiBold</vt:lpstr>
      <vt:lpstr>Bahnschrift SemiCondensed</vt:lpstr>
      <vt:lpstr>Calibri</vt:lpstr>
      <vt:lpstr>Calibri Light</vt:lpstr>
      <vt:lpstr>Retrospección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Felipe Rambaut Lemus</dc:creator>
  <cp:lastModifiedBy>Daniel Felipe Rambaut Lemus</cp:lastModifiedBy>
  <cp:revision>9</cp:revision>
  <dcterms:created xsi:type="dcterms:W3CDTF">2026-02-23T17:41:06Z</dcterms:created>
  <dcterms:modified xsi:type="dcterms:W3CDTF">2026-02-23T19:40:28Z</dcterms:modified>
</cp:coreProperties>
</file>